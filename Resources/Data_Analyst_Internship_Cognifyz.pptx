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753600" cy="7315200"/>
  <p:notesSz cx="7315200" cy="9753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1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F2937"/>
                </a:solidFill>
                <a:latin typeface="Calibri"/>
              </a:rPr>
              <a:t>Top 5 cuisines (% of restaurants serving them)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restaurants</c:v>
                </c:pt>
              </c:strCache>
            </c:strRef>
          </c:tx>
          <c:spPr>
            <a:solidFill>
              <a:srgbClr val="12233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North Indian</c:v>
                </c:pt>
                <c:pt idx="1">
                  <c:v>Chinese</c:v>
                </c:pt>
                <c:pt idx="2">
                  <c:v>Fast Food</c:v>
                </c:pt>
                <c:pt idx="3">
                  <c:v>Mughlai</c:v>
                </c:pt>
                <c:pt idx="4">
                  <c:v>Italian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41.5</c:v>
                </c:pt>
                <c:pt idx="1">
                  <c:v>28.6</c:v>
                </c:pt>
                <c:pt idx="2">
                  <c:v>20.8</c:v>
                </c:pt>
                <c:pt idx="3">
                  <c:v>10.4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EE-49C2-8D8D-63B9F564A3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F2937"/>
                </a:solidFill>
                <a:latin typeface="Calibri"/>
              </a:rPr>
              <a:t>Price range distribution (% of restaurants)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Price range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233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ED4-4722-9BAC-FC183A3DFF11}"/>
              </c:ext>
            </c:extLst>
          </c:dPt>
          <c:dPt>
            <c:idx val="1"/>
            <c:bubble3D val="0"/>
            <c:spPr>
              <a:solidFill>
                <a:srgbClr val="3D5A9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ED4-4722-9BAC-FC183A3DFF11}"/>
              </c:ext>
            </c:extLst>
          </c:dPt>
          <c:dPt>
            <c:idx val="2"/>
            <c:bubble3D val="0"/>
            <c:spPr>
              <a:solidFill>
                <a:srgbClr val="9FB3D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DED4-4722-9BAC-FC183A3DFF11}"/>
              </c:ext>
            </c:extLst>
          </c:dPt>
          <c:dPt>
            <c:idx val="3"/>
            <c:bubble3D val="0"/>
            <c:spPr>
              <a:solidFill>
                <a:srgbClr val="E8590C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DED4-4722-9BAC-FC183A3DFF11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ED4-4722-9BAC-FC183A3DFF11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ED4-4722-9BAC-FC183A3DFF11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ED4-4722-9BAC-FC183A3DFF11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ED4-4722-9BAC-FC183A3DFF11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Range 1 (lowest)</c:v>
                </c:pt>
                <c:pt idx="1">
                  <c:v>Range 2</c:v>
                </c:pt>
                <c:pt idx="2">
                  <c:v>Range 3</c:v>
                </c:pt>
                <c:pt idx="3">
                  <c:v>Range 4 (highest)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46.5</c:v>
                </c:pt>
                <c:pt idx="1">
                  <c:v>32.6</c:v>
                </c:pt>
                <c:pt idx="2">
                  <c:v>14.7</c:v>
                </c:pt>
                <c:pt idx="3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D4-4722-9BAC-FC183A3DFF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F2937"/>
                </a:solidFill>
                <a:latin typeface="Calibri"/>
              </a:rPr>
              <a:t>Average rating by delivery availability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12233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61-4A85-BC4F-41BF9E67E975}"/>
              </c:ext>
            </c:extLst>
          </c:dPt>
          <c:dPt>
            <c:idx val="1"/>
            <c:invertIfNegative val="0"/>
            <c:bubble3D val="0"/>
            <c:spPr>
              <a:solidFill>
                <a:srgbClr val="9AA3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61-4A85-BC4F-41BF9E67E975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Online delivery</c:v>
                </c:pt>
                <c:pt idx="1">
                  <c:v>No online delivery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3.25</c:v>
                </c:pt>
                <c:pt idx="1">
                  <c:v>2.4700000000000002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61-4A85-BC4F-41BF9E67E9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n-IN" sz="1400" b="0" i="0" u="none" strike="noStrike">
                <a:solidFill>
                  <a:srgbClr val="1F2937"/>
                </a:solidFill>
                <a:latin typeface="Calibri"/>
              </a:rPr>
              <a:t>Restaurants by rating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9AA3B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B05-4930-A7A2-4F56E10FE5DA}"/>
              </c:ext>
            </c:extLst>
          </c:dPt>
          <c:dPt>
            <c:idx val="1"/>
            <c:invertIfNegative val="0"/>
            <c:bubble3D val="0"/>
            <c:spPr>
              <a:solidFill>
                <a:srgbClr val="1223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05-4930-A7A2-4F56E10FE5DA}"/>
              </c:ext>
            </c:extLst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B05-4930-A7A2-4F56E10FE5DA}"/>
              </c:ext>
            </c:extLst>
          </c:dPt>
          <c:dPt>
            <c:idx val="3"/>
            <c:invertIfNegative val="0"/>
            <c:bubble3D val="0"/>
            <c:spPr>
              <a:solidFill>
                <a:srgbClr val="1223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B05-4930-A7A2-4F56E10FE5DA}"/>
              </c:ext>
            </c:extLst>
          </c:dPt>
          <c:dPt>
            <c:idx val="4"/>
            <c:invertIfNegative val="0"/>
            <c:bubble3D val="0"/>
            <c:spPr>
              <a:solidFill>
                <a:srgbClr val="1223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B05-4930-A7A2-4F56E10FE5DA}"/>
              </c:ext>
            </c:extLst>
          </c:dPt>
          <c:dPt>
            <c:idx val="5"/>
            <c:invertIfNegative val="0"/>
            <c:bubble3D val="0"/>
            <c:spPr>
              <a:solidFill>
                <a:srgbClr val="1223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B05-4930-A7A2-4F56E10FE5D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Not rated</c:v>
                </c:pt>
                <c:pt idx="1">
                  <c:v>Poor</c:v>
                </c:pt>
                <c:pt idx="2">
                  <c:v>Average</c:v>
                </c:pt>
                <c:pt idx="3">
                  <c:v>Good</c:v>
                </c:pt>
                <c:pt idx="4">
                  <c:v>Very Good</c:v>
                </c:pt>
                <c:pt idx="5">
                  <c:v>Excellent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2148</c:v>
                </c:pt>
                <c:pt idx="1">
                  <c:v>186</c:v>
                </c:pt>
                <c:pt idx="2">
                  <c:v>3737</c:v>
                </c:pt>
                <c:pt idx="3">
                  <c:v>2100</c:v>
                </c:pt>
                <c:pt idx="4">
                  <c:v>1079</c:v>
                </c:pt>
                <c:pt idx="5">
                  <c:v>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B05-4930-A7A2-4F56E10FE5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4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F2937"/>
                </a:solidFill>
                <a:latin typeface="Calibri"/>
              </a:rPr>
              <a:t>Restaurants by country (top 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1223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India</c:v>
                </c:pt>
                <c:pt idx="1">
                  <c:v>USA</c:v>
                </c:pt>
                <c:pt idx="2">
                  <c:v>UK</c:v>
                </c:pt>
                <c:pt idx="3">
                  <c:v>Brazil</c:v>
                </c:pt>
                <c:pt idx="4">
                  <c:v>UAE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8652</c:v>
                </c:pt>
                <c:pt idx="1">
                  <c:v>434</c:v>
                </c:pt>
                <c:pt idx="2">
                  <c:v>80</c:v>
                </c:pt>
                <c:pt idx="3">
                  <c:v>60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35-4A2A-848E-935D416BA6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F2937"/>
                </a:solidFill>
                <a:latin typeface="Calibri"/>
              </a:rPr>
              <a:t>Services by price range (% of restaurants)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 delivery</c:v>
                </c:pt>
              </c:strCache>
            </c:strRef>
          </c:tx>
          <c:spPr>
            <a:solidFill>
              <a:srgbClr val="12233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Range 1</c:v>
                </c:pt>
                <c:pt idx="1">
                  <c:v>Range 2</c:v>
                </c:pt>
                <c:pt idx="2">
                  <c:v>Range 3</c:v>
                </c:pt>
                <c:pt idx="3">
                  <c:v>Range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</c:v>
                </c:pt>
                <c:pt idx="1">
                  <c:v>41.3</c:v>
                </c:pt>
                <c:pt idx="2">
                  <c:v>29.2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D-4C46-A33B-7F22BF6CAD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Table booking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Range 1</c:v>
                </c:pt>
                <c:pt idx="1">
                  <c:v>Range 2</c:v>
                </c:pt>
                <c:pt idx="2">
                  <c:v>Range 3</c:v>
                </c:pt>
                <c:pt idx="3">
                  <c:v>Range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7.7</c:v>
                </c:pt>
                <c:pt idx="2">
                  <c:v>45.7</c:v>
                </c:pt>
                <c:pt idx="3">
                  <c:v>46.8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BD-4C46-A33B-7F22BF6CAD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12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internship (Data Analyst Intern at Cognifyz Technologies) and the guide. Update the student name and enrollment number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of the presentation: internship overview, dataset and tools, method, level-wise analysis, learnings and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Cognifyz offers a one-month virtual data analysis internship built around a real restaurant dataset, split into three levels. Confirm your own duration and the levels you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 and how the three levels define the scope of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key columns. Mention that the data is clean apart from 9 missing Cuisines values and has no duplicate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the tools you used. Edit this slide if you used anything different (for example Power BI or Tableau).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five-step workflow. Cuisines are stored as comma-separated text, so they were split before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3 cuisines: North Indian (3,960 restaurants), Chinese (2,735), Fast Food (1,986). For the best-rated city a minimum of 20 restaurants was used, because tiny cities with 1-2 restaurants distort averages.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range 1 = 4,444 restaurants, 2 = 3,113, 3 = 1,408, 4 = 586. Averages include unrated restaurants (rating 0). This shows an association, not proof that delivery causes higher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Rating categories follow the dataset's Rating text field. Averages in the pair table include unrated restaurants. Overall mean rating is 2.67 including zeros and 3.44 among rated restaurants.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Chains were identified as restaurant names appearing at multiple locations. Delhi NCR = New Delhi, Gurgaon, Noida, Faridabad and Ghaziabad. Ratings include unrated outlets.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Votes correlate moderately with rating: popular restaurants tend to be better rated, but many restaurants have very few votes. Free-text reviews are not part of this dataset, so Level 3 focuses on the votes and price-vs-services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skills gained. Mention one thing that surprised you in the data, for example how concentrated the dataset is in Delhi NCR.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findings and where the analysis could go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640080"/>
            <a:ext cx="3931920" cy="3931920"/>
          </a:xfrm>
          <a:prstGeom prst="ellipse">
            <a:avLst/>
          </a:prstGeom>
          <a:solidFill>
            <a:srgbClr val="1B3357"/>
          </a:solidFill>
          <a:ln w="12700">
            <a:solidFill>
              <a:srgbClr val="1B33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554480"/>
            <a:ext cx="2103120" cy="2103120"/>
          </a:xfrm>
          <a:prstGeom prst="ellipse">
            <a:avLst/>
          </a:prstGeom>
          <a:solidFill>
            <a:srgbClr val="243F6B"/>
          </a:solidFill>
          <a:ln w="12700">
            <a:solidFill>
              <a:srgbClr val="243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1051560"/>
            <a:ext cx="914400" cy="9144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125272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874520"/>
            <a:ext cx="914400" cy="9144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2075688"/>
            <a:ext cx="512064" cy="5120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0" y="3246120"/>
            <a:ext cx="914400" cy="9144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3447288"/>
            <a:ext cx="512064" cy="51206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 </a:t>
            </a:r>
          </a:p>
        </p:txBody>
      </p:sp>
      <p:sp>
        <p:nvSpPr>
          <p:cNvPr id="11" name="Text 6"/>
          <p:cNvSpPr txBox="1"/>
          <p:nvPr/>
        </p:nvSpPr>
        <p:spPr>
          <a:xfrm>
            <a:off x="45720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22402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</a:t>
            </a:r>
            <a:endParaRPr lang="en-US" sz="46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023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FF9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</a:t>
            </a:r>
            <a:r>
              <a:rPr lang="en-US" sz="2600" b="1" dirty="0">
                <a:solidFill>
                  <a:srgbClr val="FF9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5577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Koshik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(2300331530084)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120640" y="55778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Arundhati Walia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AIML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44475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44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22199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221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4884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Scope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99923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999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2608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77647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7764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0332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55371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45537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8056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525780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33095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5330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25780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Analysis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17313" y="137160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7041" y="144475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7041" y="1444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794553" y="137160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Analysis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017313" y="214884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7041" y="222199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7041" y="2221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794553" y="214884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Analysis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017313" y="292608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7041" y="299923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27041" y="2999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794553" y="292608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017313" y="370332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7041" y="377647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27041" y="37764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794553" y="370332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017313" y="448056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7041" y="4553712"/>
            <a:ext cx="493776" cy="493776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27041" y="45537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794553" y="4480560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017313" y="5257800"/>
            <a:ext cx="4279392" cy="640080"/>
          </a:xfrm>
          <a:prstGeom prst="roundRect">
            <a:avLst>
              <a:gd name="adj" fmla="val 14286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154473" y="5257800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Cognifyz: Where Data Meets Intelligence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at Cognifyz Technologies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one-month, self-paced virtual Data Analysis internship at Cognifyz Technologies.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a real-world restaurant dataset provided by the company.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were organised in three levels, moving from basic to advanced and specialised analysis.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Practised the full analyst workflow: cleaning, exploration, visualization and insight reporting.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349240" y="146304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0" y="1572768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2414016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virtual, self-paced internship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52360" y="146304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572768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414016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basic, advanced and specialised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49240" y="356616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3675888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9,551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517136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analysed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52360" y="356616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3675888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517136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for every restaurant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715000"/>
            <a:ext cx="2763622" cy="1005840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715000"/>
            <a:ext cx="23978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95142" y="5715000"/>
            <a:ext cx="2763622" cy="1005840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78022" y="5715000"/>
            <a:ext cx="23978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Analytics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3083" y="5715000"/>
            <a:ext cx="2763622" cy="1005840"/>
          </a:xfrm>
          <a:prstGeom prst="roundRect">
            <a:avLst>
              <a:gd name="adj" fmla="val 909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15963" y="5715000"/>
            <a:ext cx="23978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Virtual, remote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SCOPE OF THE INTERNSHIP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279392" cy="4343400"/>
          </a:xfrm>
          <a:prstGeom prst="roundRect">
            <a:avLst>
              <a:gd name="adj" fmla="val 213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69529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23160"/>
            <a:ext cx="37307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 analysis to a real restaurant dataset and uncover market trends.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raw data so results are accurate and reliable.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cuisines, cities, pricing, ratings, votes and services such as delivery and table booking.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findings through clear visualizations and business insights.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17313" y="1371600"/>
            <a:ext cx="4279392" cy="4343400"/>
          </a:xfrm>
          <a:prstGeom prst="roundRect">
            <a:avLst>
              <a:gd name="adj" fmla="val 213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45913" y="1554480"/>
            <a:ext cx="640080" cy="64008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730" y="169529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68873" y="155448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5291633" y="2423160"/>
            <a:ext cx="37307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top cuisines, city analysis, price range distribution, online delivery.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rating distribution, cuisine combinations, geographic analysis, restaurant chains.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votes analysis; price range vs. online delivery and table booking.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analysis with charts and written insights.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57200" y="5943600"/>
            <a:ext cx="8839505" cy="777240"/>
          </a:xfrm>
          <a:prstGeom prst="roundRect">
            <a:avLst>
              <a:gd name="adj" fmla="val 11765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5943600"/>
            <a:ext cx="883950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raw restaurant data into decisions a business can act on.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394960" cy="395020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 ID /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of each restaurant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City, Country Code, Locality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restaurant is located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Latitude, Longitude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Coordinates used for geographic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Cuisines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more cuisines served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Cost for two, Price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(price range is 1 to 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Table booking, Has Online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availability (Yes / 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rating, Rating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rating (0 to 5) and its 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ratings received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3716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481328"/>
            <a:ext cx="11887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9,551</a:t>
            </a:r>
            <a:endParaRPr lang="en-US" sz="2600" dirty="0"/>
          </a:p>
        </p:txBody>
      </p:sp>
      <p:sp>
        <p:nvSpPr>
          <p:cNvPr id="3" name="Text 3"/>
          <p:cNvSpPr txBox="1"/>
          <p:nvPr/>
        </p:nvSpPr>
        <p:spPr>
          <a:xfrm>
            <a:off x="6263640" y="2037283"/>
            <a:ext cx="11887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33665" y="13716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70825" y="1481328"/>
            <a:ext cx="11887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70825" y="2037283"/>
            <a:ext cx="11887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278892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2898648"/>
            <a:ext cx="11887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3454603"/>
            <a:ext cx="11887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833665" y="278892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70825" y="2898648"/>
            <a:ext cx="11887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7970825" y="3454603"/>
            <a:ext cx="11887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26480" y="4206240"/>
            <a:ext cx="3170225" cy="1188720"/>
          </a:xfrm>
          <a:prstGeom prst="roundRect">
            <a:avLst>
              <a:gd name="adj" fmla="val 769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4206240"/>
            <a:ext cx="289590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 missing values (Cuisines column) and 0 duplicate rows.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760720"/>
            <a:ext cx="8839505" cy="868680"/>
          </a:xfrm>
          <a:prstGeom prst="roundRect">
            <a:avLst>
              <a:gd name="adj" fmla="val 10526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5760720"/>
            <a:ext cx="84737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dataset provided by Cognifyz for the internship (Zomato-style restaurant listings).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822960" cy="82296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19184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used for the whole analysis workflow.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20440" y="14630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94760" y="1737360"/>
            <a:ext cx="822960" cy="82296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811" y="191841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9476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79476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grouping, aggregation and statistics.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583680" y="14630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0" y="1737360"/>
            <a:ext cx="822960" cy="82296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051" y="191841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pie, histogram and correlation charts.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411480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4389120"/>
            <a:ext cx="822960" cy="82296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" y="457017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5349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806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 of restaurant locations.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520440" y="411480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794760" y="4389120"/>
            <a:ext cx="822960" cy="82296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5811" y="4570171"/>
            <a:ext cx="460858" cy="46085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794760" y="5349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794760" y="5806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output and notes together for each level.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583680" y="411480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58000" y="4389120"/>
            <a:ext cx="822960" cy="82296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9051" y="4570171"/>
            <a:ext cx="460858" cy="46085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5349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Excel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858000" y="58064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checks and summary tables.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57300" y="1828800"/>
            <a:ext cx="7242048" cy="0"/>
          </a:xfrm>
          <a:prstGeom prst="line">
            <a:avLst/>
          </a:prstGeom>
          <a:noFill/>
          <a:ln w="25400">
            <a:solidFill>
              <a:srgbClr val="B8C1DC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57200" y="251460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" y="1463040"/>
            <a:ext cx="731520" cy="73152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" y="16239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429000"/>
            <a:ext cx="1325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CSV into a Pandas DataFrame and checked shape, data types and sample rows.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267712" y="251460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02052" y="1463040"/>
            <a:ext cx="731520" cy="73152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986" y="16239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04872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404872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404872" y="3429000"/>
            <a:ext cx="1325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values, checked duplicates and standardised Yes/No fields.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078224" y="251460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12564" y="1463040"/>
            <a:ext cx="731520" cy="73152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498" y="162397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15384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215384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215384" y="3429000"/>
            <a:ext cx="1325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counts, percentages, averages and correlations for each task question.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888736" y="251460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23076" y="1463040"/>
            <a:ext cx="731520" cy="73152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010" y="1623974"/>
            <a:ext cx="409651" cy="40965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025896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025896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025896" y="3429000"/>
            <a:ext cx="1325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bar, doughnut, column and map charts so patterns are easy to see.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7699248" y="2514600"/>
            <a:ext cx="1600200" cy="283464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133588" y="1463040"/>
            <a:ext cx="731520" cy="7315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4522" y="1623974"/>
            <a:ext cx="409651" cy="40965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836408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7836408" y="2971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7836408" y="3429000"/>
            <a:ext cx="1325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numbers into business insights and documented one report per level.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457200" y="5669280"/>
            <a:ext cx="8839505" cy="868680"/>
          </a:xfrm>
          <a:prstGeom prst="roundRect">
            <a:avLst>
              <a:gd name="adj" fmla="val 10526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40080" y="5669280"/>
            <a:ext cx="84737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highlights: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missing Cuisines values handled, 0 duplicates found, multi-cuisine text split into individual cuisines for counting.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 |  TOP CUISINES &amp; CITY ANALYSIS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50292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371600"/>
            <a:ext cx="3535985" cy="1325880"/>
          </a:xfrm>
          <a:prstGeom prst="roundRect">
            <a:avLst>
              <a:gd name="adj" fmla="val 689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481328"/>
            <a:ext cx="3261665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5,473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2061058"/>
            <a:ext cx="3261665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in New Delhi, 57.3% of the dataset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60720" y="2926080"/>
            <a:ext cx="3535985" cy="1325880"/>
          </a:xfrm>
          <a:prstGeom prst="roundRect">
            <a:avLst>
              <a:gd name="adj" fmla="val 689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3035808"/>
            <a:ext cx="3261665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1,118 | 1,080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3615538"/>
            <a:ext cx="3261665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Gurgaon and Noida follow, completing the Delhi NCR cluster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760720" y="4480560"/>
            <a:ext cx="3535985" cy="1325880"/>
          </a:xfrm>
          <a:prstGeom prst="roundRect">
            <a:avLst>
              <a:gd name="adj" fmla="val 689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97880" y="4590288"/>
            <a:ext cx="3261665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London, 4.5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5170018"/>
            <a:ext cx="3261665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city rating (cities with 20+ restaurants)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5989320"/>
            <a:ext cx="8839505" cy="777240"/>
          </a:xfrm>
          <a:prstGeom prst="roundRect">
            <a:avLst>
              <a:gd name="adj" fmla="val 11765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5989320"/>
            <a:ext cx="84737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Indian, Chinese and Fast Food lead the market. Restaurants can list several cuisines, so the shares add up to more than 100%.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 |  PRICE RANGE &amp; ONLINE DELIVERY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42062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937760" y="1371600"/>
            <a:ext cx="4358945" cy="1280160"/>
          </a:xfrm>
          <a:prstGeom prst="roundRect">
            <a:avLst>
              <a:gd name="adj" fmla="val 71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74920" y="1481328"/>
            <a:ext cx="4084625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2037283"/>
            <a:ext cx="4084625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restaurants offer online delivery (2,451 of 9,551)</a:t>
            </a:r>
            <a:endParaRPr lang="en-US" sz="12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937760" y="2834640"/>
          <a:ext cx="4358945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989320"/>
            <a:ext cx="8839505" cy="777240"/>
          </a:xfrm>
          <a:prstGeom prst="roundRect">
            <a:avLst>
              <a:gd name="adj" fmla="val 11765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5989320"/>
            <a:ext cx="84737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restaurants sit in the lowest price range, and restaurants with online delivery are rated about 0.8 points higher on average (3.25 vs 2.47).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|  RATINGS &amp; CUISINE COMBINATIONS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51206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371600"/>
            <a:ext cx="3444545" cy="1097280"/>
          </a:xfrm>
          <a:prstGeom prst="roundRect">
            <a:avLst>
              <a:gd name="adj" fmla="val 8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481328"/>
            <a:ext cx="317022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39.1%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942186"/>
            <a:ext cx="317022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rated 'Average' (2.5 to 3.4), the most common range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852160" y="2651760"/>
            <a:ext cx="3444545" cy="1097280"/>
          </a:xfrm>
          <a:prstGeom prst="roundRect">
            <a:avLst>
              <a:gd name="adj" fmla="val 8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2761488"/>
            <a:ext cx="317022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156.9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3222346"/>
            <a:ext cx="317022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votes per restaurant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3977640"/>
          <a:ext cx="3444545" cy="16002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cuisine pairs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 + North Indian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Mughlai + North Indian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 + Mughlai + North Indian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989320"/>
            <a:ext cx="8839505" cy="777240"/>
          </a:xfrm>
          <a:prstGeom prst="roundRect">
            <a:avLst>
              <a:gd name="adj" fmla="val 11765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5989320"/>
            <a:ext cx="84737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restaurants rate 'Average'; the 7,403 rated ones average 3.44. 64.4% list multiple cuisines, and Mughlai + North Indian scores best among the top pairs.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 |  GEOGRAPHY &amp; RESTAURANT CHAINS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42062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280160"/>
            <a:ext cx="43589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restaurant chains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45920"/>
          <a:ext cx="4358945" cy="230428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 Coffee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Domino's Pizza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Chick Chop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McDonald's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937760" y="4206240"/>
            <a:ext cx="2088032" cy="160020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074920" y="4315968"/>
            <a:ext cx="181371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074920" y="5038344"/>
            <a:ext cx="181371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restaurants are in India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208672" y="4206240"/>
            <a:ext cx="2088032" cy="1600200"/>
          </a:xfrm>
          <a:prstGeom prst="roundRect">
            <a:avLst>
              <a:gd name="adj" fmla="val 5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45832" y="4315968"/>
            <a:ext cx="181371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83.2%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7345832" y="5038344"/>
            <a:ext cx="181371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 the Delhi NCR cities</a:t>
            </a:r>
            <a:endParaRPr lang="en-US" sz="1250" dirty="0"/>
          </a:p>
        </p:txBody>
      </p:sp>
      <p:sp>
        <p:nvSpPr>
          <p:cNvPr id="5" name="Shape 8"/>
          <p:cNvSpPr/>
          <p:nvPr/>
        </p:nvSpPr>
        <p:spPr>
          <a:xfrm>
            <a:off x="457200" y="5989320"/>
            <a:ext cx="8839505" cy="777240"/>
          </a:xfrm>
          <a:prstGeom prst="roundRect">
            <a:avLst>
              <a:gd name="adj" fmla="val 11765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5989320"/>
            <a:ext cx="84737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India- and Delhi NCR-centric. Chain size does not guarantee quality: McDonald's (3.34) outscores Cafe Coffee Day (2.42) despite fewer outlets.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 |  VOTES &amp; SERVICE AVAILABILITY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1325880"/>
          </a:xfrm>
          <a:prstGeom prst="roundRect">
            <a:avLst>
              <a:gd name="adj" fmla="val 689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81328"/>
            <a:ext cx="35661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10,934 votes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61058"/>
            <a:ext cx="35661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Toit (Bangalore) is the most-voted restaurant, rated 4.8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840480" cy="1325880"/>
          </a:xfrm>
          <a:prstGeom prst="roundRect">
            <a:avLst>
              <a:gd name="adj" fmla="val 689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035808"/>
            <a:ext cx="35661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15538"/>
            <a:ext cx="35661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votes and rating (0.41 among rated restaurants)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480560"/>
            <a:ext cx="3840480" cy="1325880"/>
          </a:xfrm>
          <a:prstGeom prst="roundRect">
            <a:avLst>
              <a:gd name="adj" fmla="val 689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4590288"/>
            <a:ext cx="35661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1,094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5170018"/>
            <a:ext cx="35661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have received zero votes</a:t>
            </a:r>
            <a:endParaRPr lang="en-US" sz="12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572000" y="1280160"/>
          <a:ext cx="4724705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5989320"/>
            <a:ext cx="8839505" cy="777240"/>
          </a:xfrm>
          <a:prstGeom prst="roundRect">
            <a:avLst>
              <a:gd name="adj" fmla="val 11765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5989320"/>
            <a:ext cx="84737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 is almost absent in budget restaurants but offered by about 46% of premium ones (ranges 3 and 4); online delivery peaks in mid-priced restaurants (range 2).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279392" cy="137160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731520" cy="73152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50876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93852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values, duplicates and multi-value text fields.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17313" y="1371600"/>
            <a:ext cx="4279392" cy="137160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45913" y="1691640"/>
            <a:ext cx="731520" cy="7315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847" y="185257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06033" y="150876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206033" y="193852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counts, percentages, averages and correlation to answer business questions.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279392" cy="137160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246120"/>
            <a:ext cx="731520" cy="73152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" y="340705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49300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chart (bar, doughnut, column or map) for each message.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017313" y="2926080"/>
            <a:ext cx="4279392" cy="137160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245913" y="3246120"/>
            <a:ext cx="731520" cy="7315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6847" y="3407054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06033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Analytics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06033" y="349300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Pandas, NumPy, Matplotlib, Seaborn and Folium.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457200" y="4480560"/>
            <a:ext cx="4279392" cy="137160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85800" y="4800600"/>
            <a:ext cx="731520" cy="73152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" y="4961534"/>
            <a:ext cx="409651" cy="40965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461772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Thinking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645920" y="504748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numbers into insights and separating correlation from causation.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5017313" y="4480560"/>
            <a:ext cx="4279392" cy="1371600"/>
          </a:xfrm>
          <a:prstGeom prst="roundRect">
            <a:avLst>
              <a:gd name="adj" fmla="val 666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245913" y="4800600"/>
            <a:ext cx="731520" cy="7315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6847" y="4961534"/>
            <a:ext cx="409651" cy="40965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06033" y="461772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Reporting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06033" y="504748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findings level by level with clear visuals and summaries.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457200" y="6172200"/>
            <a:ext cx="8839505" cy="640080"/>
          </a:xfrm>
          <a:prstGeom prst="roundRect">
            <a:avLst>
              <a:gd name="adj" fmla="val 14286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40080" y="6172200"/>
            <a:ext cx="84737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analyst workflow, from a raw CSV file to business insight.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279392" cy="5257800"/>
          </a:xfrm>
          <a:prstGeom prst="roundRect">
            <a:avLst>
              <a:gd name="adj" fmla="val 2137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69529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3730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9,551 restaurants across 141 cities and 15 countries using Python.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strong Delhi NCR concentration, a low-price majority, and North Indian, Chinese and Fast Food as leading cuisines.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offering online delivery or table booking are rated higher on average.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workflow: clean, explore, visualize, report.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17313" y="1371600"/>
            <a:ext cx="4279392" cy="5257800"/>
          </a:xfrm>
          <a:prstGeom prst="roundRect">
            <a:avLst>
              <a:gd name="adj" fmla="val 213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45913" y="1554480"/>
            <a:ext cx="640080" cy="640080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730" y="169529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68873" y="155448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5291633" y="2468880"/>
            <a:ext cx="3730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modelling: regression to forecast restaurant ratings.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in Power BI or Tableau.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on customer review text.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 based on cuisine, price and location.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0165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847374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Technologies, "Data Analysis Internship Program," cognifyz.com.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McKinney, "Data structures for statistical computing in Python," Proc. 9th Python in Science Conf., pp. 56-61, 2010.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R. Harris et al., "Array programming with NumPy," Nature, vol. 585, pp. 357-362, 2020.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D. Hunter, "Matplotlib: A 2D graphics environment," Computing in Science &amp; Engineering, vol. 9, no. 3, pp. 90-95, 2007.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L. Waskom, "seaborn: statistical data visualization," Journal of Open Source Software, vol. 6, no. 60, p. 3021, 2021.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748065" y="384048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48065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967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640080"/>
            <a:ext cx="3931920" cy="3931920"/>
          </a:xfrm>
          <a:prstGeom prst="ellipse">
            <a:avLst/>
          </a:prstGeom>
          <a:solidFill>
            <a:srgbClr val="1B3357"/>
          </a:solidFill>
          <a:ln w="12700">
            <a:solidFill>
              <a:srgbClr val="1B33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554480"/>
            <a:ext cx="2103120" cy="2103120"/>
          </a:xfrm>
          <a:prstGeom prst="ellipse">
            <a:avLst/>
          </a:prstGeom>
          <a:solidFill>
            <a:srgbClr val="243F6B"/>
          </a:solidFill>
          <a:ln w="12700">
            <a:solidFill>
              <a:srgbClr val="243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1051560"/>
            <a:ext cx="914400" cy="9144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125272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874520"/>
            <a:ext cx="914400" cy="9144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2075688"/>
            <a:ext cx="512064" cy="5120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0" y="3246120"/>
            <a:ext cx="914400" cy="9144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3447288"/>
            <a:ext cx="512064" cy="51206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3566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42976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B8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 |  Cognifyz Technologies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1863</Words>
  <Application>Microsoft Office PowerPoint</Application>
  <PresentationFormat>Custom</PresentationFormat>
  <Paragraphs>287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Internship - Cognifyz Technologies</dc:title>
  <dc:subject>PptxGenJS Presentation</dc:subject>
  <dc:creator>Department of CSE AI&amp;ML</dc:creator>
  <cp:lastModifiedBy>Prateek Koshik</cp:lastModifiedBy>
  <cp:revision>3</cp:revision>
  <dcterms:created xsi:type="dcterms:W3CDTF">2026-09-19T03:26:33Z</dcterms:created>
  <dcterms:modified xsi:type="dcterms:W3CDTF">2026-09-19T03:37:22Z</dcterms:modified>
</cp:coreProperties>
</file>